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499" r:id="rId10"/>
    <p:sldId id="2147470502" r:id="rId11"/>
    <p:sldId id="2147470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5B9BD5"/>
                </a:solidFill>
                <a:latin typeface="Calibri"/>
              </a:defRPr>
            </a:pPr>
            <a:r>
              <a:t>Review III</a:t>
            </a:r>
          </a:p>
          <a:p>
            <a:pPr>
              <a:defRPr sz="3200" b="1">
                <a:solidFill>
                  <a:srgbClr val="1B4332"/>
                </a:solidFill>
                <a:latin typeface="Calibri"/>
              </a:defRPr>
            </a:pPr>
            <a:r>
              <a:t>Kisan AI: WhatsApp Agronomic Advisory Assistant</a:t>
            </a:r>
          </a:p>
          <a:p>
            <a:pPr>
              <a:defRPr sz="1800" b="0">
                <a:solidFill>
                  <a:srgbClr val="475569"/>
                </a:solidFill>
                <a:latin typeface="Calibri"/>
              </a:defRPr>
            </a:pPr>
            <a:r>
              <a:t>Autonomous Multimodal ReAct Agent with ICAR/TNAU RAG &amp; CIB&amp;RC Safety Guardrails</a:t>
            </a:r>
          </a:p>
          <a:p/>
          <a:p>
            <a:pPr>
              <a:defRPr sz="1800" b="1">
                <a:solidFill>
                  <a:srgbClr val="5B9BD5"/>
                </a:solidFill>
                <a:latin typeface="Calibri"/>
              </a:defRPr>
            </a:pPr>
            <a:r>
              <a:t>L&amp;T EduTech Project 08  |  Advanced Industry Integrated Program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200"/>
              </a:spcAft>
              <a:buNone/>
              <a:defRPr sz="1700" b="1">
                <a:solidFill>
                  <a:srgbClr val="1B4332"/>
                </a:solidFill>
                <a:latin typeface="Calibri"/>
              </a:defRPr>
            </a:pPr>
            <a:r>
              <a:t>Agricultural Context in India:</a:t>
            </a:r>
            <a:endParaRPr lang="en-US" sz="2400" b="0" dirty="0">
              <a:solidFill>
                <a:srgbClr val="5583D1"/>
              </a:solidFill>
            </a:endParaRP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86% of Indian farmers are smallholders cultivating plots under 2 hectares.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Severe deficit of agricultural extension officers (1:1,200 ratio) leaves farmers without timely expert guidance.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Pest attacks and fungal diseases spread across clusters within 48–72 hours if untreated.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Information Asymmetry &amp; Dealer Reliance: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Lack of localized scientific guidance forces farmers to rely on commercial pesticide retailers.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Often leads to unapproved cocktail sprays, excessive chemical dosages, and high input debts.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Kisan AI Solution Overview: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An autonomous, multimodal WhatsApp assistant providing instant, scientifically verified agronomic advisories.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Zero app-barrier: Farmers interact natively via WhatsApp using text, regional voice notes, and leaf photos.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100% grounded in official ICAR &amp; TNAU package-of-practices manuals with mandatory CIB&amp;RC pesticide safety compliance.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>
                <a:solidFill>
                  <a:srgbClr val="5B9BD5"/>
                </a:solidFill>
                <a:latin typeface="Calibri"/>
              </a:defRPr>
            </a:pPr>
            <a: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Project Title - Kisan AI: WhatsApp Agronomic Advisory Assistant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200"/>
              </a:spcAft>
              <a:buNone/>
              <a:defRPr sz="1700" b="1">
                <a:solidFill>
                  <a:srgbClr val="1B4332"/>
                </a:solidFill>
                <a:latin typeface="Calibri"/>
              </a:defRPr>
            </a:pPr>
            <a:r>
              <a:t>Real-Time Conversational Latency SLA:</a:t>
            </a:r>
            <a:endParaRPr lang="en-US" sz="2400" b="0" dirty="0">
              <a:solidFill>
                <a:srgbClr val="5583D1"/>
              </a:solidFill>
            </a:endParaRP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Engineer an event-driven advisory pipeline operating under a strict 6-second SLA, eliminating Meta webhook retries.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Strict Multilingual Input Fidelity: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Provide seamless dialogue across 5 Indian languages (English, Hindi, Telugu, Tamil, Marathi) strictly matching the incoming dialect.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Zero-Hallucination Knowledge Retrieval (RAG):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Index 3,467 authoritative agronomy chunks from ICAR and TNAU crop manuals in ChromaDB with crop-isolated metadata filtering.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Regulatory Pesticide Safety Enforcement: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Enforce automated Central Insecticides Board (CIB&amp;RC) bans, dosage limits, and mandatory personal protective equipment (PPE) alerts.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Multimodal Field Diagnostics: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Enable regional audio transcription (Whisper STT) and visual crop disease lesion classification (LLaVA / Gemini Vision).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>
                <a:solidFill>
                  <a:srgbClr val="5B9BD5"/>
                </a:solidFill>
                <a:latin typeface="Calibri"/>
              </a:defRPr>
            </a:pPr>
            <a: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Project Title - Kisan AI: WhatsApp Agronomic Advisory Assistant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spcAft>
                <a:spcPts val="200"/>
              </a:spcAft>
              <a:buNone/>
              <a:defRPr sz="1700" b="1">
                <a:solidFill>
                  <a:srgbClr val="1B4332"/>
                </a:solidFill>
                <a:latin typeface="Calibri"/>
              </a:defRPr>
            </a:pPr>
            <a:r>
              <a:t>M1 &amp; M2: Webhook Security &amp; Multimodal Perception Layer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FastAPI REST webhook with Meta HMAC SHA-256 verification (50ms fast ACK).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Whisper STT for regional voice notes; Vision LLM for leaf pest and lesion pathology.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M3 &amp; M4: Farmer State &amp; Autonomous ReAct Decision Agent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PostgreSQL relational profiles (village, GPS coordinates, crops, soil tests) + Redis 24h deduplication.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Google Gemini Flash Lite core reasoning engine with dynamic tool execution and cached singleton client.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M5 &amp; M6: Knowledge Retrieval (RAG) &amp; Agro-Climatic Tools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ChromaDB vector database (3,467 ICAR chunks) with strict crop-isolated metadata boundaries.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OpenWeatherMap 24h rain/temperature forecasts and ISRIC SoilGrids REST API (soil pH, texture, clay%).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M7, M8 &amp; M9: Safety, Translation &amp; Async Task Queue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CIB&amp;RC pesticide regulatory engine with automated toxic chemical filtering and PPE warnings.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Sub-second Gemini direct translation engine preserving chemical formulations and dosages.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Celery distributed task queue backed by Redis for asynchronous media and pipeline execution.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200" b="1">
                <a:solidFill>
                  <a:srgbClr val="5B9BD5"/>
                </a:solidFill>
                <a:latin typeface="Calibri"/>
              </a:defRPr>
            </a:pPr>
            <a:r>
              <a:t>Module Names &amp; System Decomposition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Project Title - Kisan AI: WhatsApp Agronomic Advisory Assistant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200"/>
              </a:spcAft>
              <a:buNone/>
              <a:defRPr sz="1700" b="1">
                <a:solidFill>
                  <a:srgbClr val="1B4332"/>
                </a:solidFill>
                <a:latin typeface="Calibri"/>
              </a:defRPr>
            </a:pPr>
            <a:r>
              <a:t>Smallholder Agricultural Realities:</a:t>
            </a:r>
            <a:endParaRPr lang="en-US" sz="2400" b="0" dirty="0">
              <a:solidFill>
                <a:srgbClr val="5583D1"/>
              </a:solidFill>
            </a:endParaRP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Severe pesticide misuse and accidental poisoning due to absence of timely agronomic advisories.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Over 70% of scientific university literature is locked in formal English, inaccessible to rural cultivators.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Production Latency Breakdown (30 to 49.26s):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Initial end-to-end response time degraded to 49.26s, triggering Meta webhook timeout duplicate retries.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Deprecation of gemini-1.5-flash and 5 req/min rate limit on gemini-3.8-flash triggered slow 35s CPU Ollama fallbacks.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Language Inversion Defect: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System replied strictly in Hindi to English and regional queries due to hard-coded profile fallback logic.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ChromaDB Vector Retrieval Contamination: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Unconditional multi-crop filtering caused coffee white stem borer chunks to crowd out rice stem borer documents.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200" b="1">
                <a:solidFill>
                  <a:srgbClr val="5B9BD5"/>
                </a:solidFill>
                <a:latin typeface="Calibri"/>
              </a:defRPr>
            </a:pPr>
            <a: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Project Title - Kisan AI: WhatsApp Agronomic Advisory Assistant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200"/>
              </a:spcAft>
              <a:buNone/>
              <a:defRPr sz="1700" b="1">
                <a:solidFill>
                  <a:srgbClr val="1B4332"/>
                </a:solidFill>
                <a:latin typeface="Calibri"/>
              </a:defRPr>
            </a:pPr>
            <a:r>
              <a:t>Stage 1 &amp; 2: Asynchronous Ingress &amp; Script Language Detection</a:t>
            </a:r>
            <a:endParaRPr lang="en-US" sz="2400" b="0" dirty="0">
              <a:solidFill>
                <a:srgbClr val="5583D1"/>
              </a:solidFill>
            </a:endParaRP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Webhook returns HTTP 200 within 50ms; payload dispatched to background Celery workers.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Fast Unicode codepoint inspection maps Telugu (0C00-0C7F), Tamil (0B80-0BFF), Devanagari (0900-097F), or English.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Stage 3 &amp; 4: Sub-Second Translation In &amp; Context Pre-Seeding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Regional query translated into English in ~0.35s for reasoning; English queries bypass translation.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Farmer profile (village, coordinates, crops) injected directly into prompt, saving 2s in tool round-trips.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Stage 5 &amp; 6: Isolated Vector Search &amp; Single-Turn ReAct Reasoning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ChromaDB retrieves top-4 authoritative chunks filtered strictly by crop in 0.34s without multi-crop noise.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Gemini Flash Lite synthesizes practical agronomic advice in &lt;=6 numbered steps with exact dosages and ETL thresholds.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Stage 7 &amp; 8: Regulatory Safety Post-Check &amp; Sub-Second Delivery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Regex scans synthesized chemicals against CIB&amp;RC banned list and injects mandatory safety warnings.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Advisory translated into farmer's dialect in ~0.4s and delivered via WhatsApp Cloud API (&lt;6s total wall time).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200" b="1">
                <a:solidFill>
                  <a:srgbClr val="5B9BD5"/>
                </a:solidFill>
                <a:latin typeface="Calibri"/>
              </a:defRPr>
            </a:pPr>
            <a: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Project Title - Kisan AI: WhatsApp Agronomic Advisory Assistant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200"/>
              </a:spcAft>
              <a:buNone/>
              <a:defRPr sz="1700" b="1">
                <a:solidFill>
                  <a:srgbClr val="1B4332"/>
                </a:solidFill>
                <a:latin typeface="Calibri"/>
              </a:defRPr>
            </a:pPr>
            <a:r>
              <a:t>Core AI Reasoning &amp; Fallback Architecture:</a:t>
            </a:r>
            <a:endParaRPr lang="en-US" sz="2400" b="0" dirty="0">
              <a:solidFill>
                <a:srgbClr val="5583D1"/>
              </a:solidFill>
            </a:endParaRP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Google Gemini Flash Lite (gemini-flash-lite-latest) via google-genai SDK with client singleton caching.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Local Ollama running qwen2.5:7b as a high-reliability offline fallback when internet connectivity drops.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Vector Database &amp; Semantic Embeddings: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ChromaDB persistent collection indexing 3,467 text chunks from ICAR and TNAU agronomy packages of practices.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HuggingFace multilingual-e5-small embeddings with passage: and query: instruction prefixes.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Backend Services &amp; Asynchronous Queues: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FastAPI REST framework with Uvicorn ASGI server; Celery task queue with Redis 7.0 for 24h message deduplication.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PostgreSQL relational database (farmer profiles, GPS coordinates, crop history) and MinIO object storage.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Multimodal Perception &amp; External APIs: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OpenAI Whisper Small for Indic speech-to-text; LLaVA / Gemini Vision for visual crop pathology.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Meta WhatsApp Cloud API, OpenWeatherMap 24h rain/temp API, and ISRIC SoilGrids REST API.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200" b="1">
                <a:solidFill>
                  <a:srgbClr val="5B9BD5"/>
                </a:solidFill>
                <a:latin typeface="Calibri"/>
              </a:defRPr>
            </a:pPr>
            <a: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Project Title - Kisan AI: WhatsApp Agronomic Advisory Assistant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200"/>
              </a:spcAft>
              <a:buNone/>
              <a:defRPr sz="1700" b="1">
                <a:solidFill>
                  <a:srgbClr val="1B4332"/>
                </a:solidFill>
                <a:latin typeface="Calibri"/>
              </a:defRPr>
            </a:pPr>
            <a:r>
              <a:t>89.1% End-to-End Latency Reduction: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Total response time dropped from 49.26s down to 5.39s, well within conversational WhatsApp standards.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41x Translation Acceleration &amp; 6.9x Faster Agent: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Sub-second Gemini direct translation (0.35s) replaced slow CPU IndicTrans2 beam search (14.55s).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Gemini Flash Lite API inference (5.03s) replaced local CPU Ollama fallback stalls (34.70s).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100% Language Fidelity Achieved: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Language inversion defect eliminated; English queries receive English replies, Hindi receives Hindi, Telugu receives Telugu.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Zero False-Negative Knowledge Rejections: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Crop-isolated vector retrieval eliminated multi-crop collisions, ensuring 100% accurate package-of-practices retrieval.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Empirical Live Query Verification: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Query: 'What is the remedy for stem borer in paddy?' -&gt; Delivered exact ETL threshold (10% dead heart), pheromone trap count, Thiamethoxam dosage, and PPE safety gear in 5.39s.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200" b="1">
                <a:solidFill>
                  <a:srgbClr val="5B9BD5"/>
                </a:solidFill>
                <a:latin typeface="Calibri"/>
              </a:defRPr>
            </a:pPr>
            <a: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Project Title - Kisan AI: WhatsApp Agronomic Advisory Assistant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200"/>
              </a:spcAft>
              <a:buNone/>
              <a:defRPr sz="1700" b="1">
                <a:solidFill>
                  <a:srgbClr val="1B4332"/>
                </a:solidFill>
                <a:latin typeface="Calibri"/>
              </a:defRPr>
            </a:pPr>
            <a:r>
              <a:t>Project Achievements:</a:t>
            </a:r>
            <a:endParaRPr lang="en-US" sz="2400" b="0" dirty="0">
              <a:solidFill>
                <a:srgbClr val="5583D1"/>
              </a:solidFill>
            </a:endParaRP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Production-grade, low-latency (5.39s) WhatsApp agronomy assistant verified against ICAR/TNAU manuals.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Automated CIB&amp;RC banned pesticide interception protects smallholder farmers from chemical poisoning and input loss.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Bridges the 1:1,200 extension officer deficit, bringing university-grade agricultural science directly to farmers' phones.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Future Scope 1 — Satellite Remote Sensing (NDVI):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Integration with Sentinel-2 satellite imagery for automated crop health, moisture stress, and vegetative index tracking.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Future Scope 2 — Mandi Market Price Intelligence (e-NAM):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Live connection to Agmarknet/e-NAM APIs to provide real-time crop market prices and mandi price arbitrage.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Future Scope 3 — Audio Voice Note Response (TTS):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Indic-TTS integration to synthesize outbound voice notes so illiterate farmers receive spoken advisories directly.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200" b="1">
                <a:solidFill>
                  <a:srgbClr val="5B9BD5"/>
                </a:solidFill>
                <a:latin typeface="Calibri"/>
              </a:defRPr>
            </a:pPr>
            <a:r>
              <a:t>Conclusion &amp; Strategic Roadmap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Project Title - Kisan AI: WhatsApp Agronomic Advisory Assistant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200"/>
              </a:spcAft>
              <a:buNone/>
              <a:defRPr sz="1700" b="1">
                <a:solidFill>
                  <a:srgbClr val="1B4332"/>
                </a:solidFill>
                <a:latin typeface="Calibri"/>
              </a:defRPr>
            </a:pPr>
            <a:r>
              <a:t>Academic Mentorship:</a:t>
            </a:r>
            <a:endParaRPr lang="en-US" sz="2400" b="0" dirty="0">
              <a:solidFill>
                <a:srgbClr val="5583D1"/>
              </a:solidFill>
            </a:endParaRP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Express sincere gratitude to our University faculty, project coordinators, and guides for continuous academic mentorship.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Industry Partnership: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Sincere thanks to LTIMindtree &amp; L&amp;T EduTech mentors for defining the real-world agricultural problem statement and architectural guidance.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Agricultural Institutions: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Grateful to the Indian Council of Agricultural Research (ICAR) &amp; Tamil Nadu Agricultural University (TNAU) for open scientific publications.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Project Collaboration: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Sincere appreciation to our project team members, peer reviewers, and testing partners for their invaluable contributions.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200" b="1">
                <a:solidFill>
                  <a:srgbClr val="5B9BD5"/>
                </a:solidFill>
                <a:latin typeface="Calibri"/>
              </a:defRPr>
            </a:pPr>
            <a: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Project Title - Kisan AI: WhatsApp Agronomic Advisory Assistant</a:t>
            </a:r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200"/>
              </a:spcAft>
              <a:buNone/>
              <a:defRPr sz="1700" b="1">
                <a:solidFill>
                  <a:srgbClr val="1B4332"/>
                </a:solidFill>
                <a:latin typeface="Calibri"/>
              </a:defRPr>
            </a:pPr>
            <a:r>
              <a:t>[1] Indian Council of Agricultural Research (ICAR):</a:t>
            </a:r>
            <a:endParaRPr lang="en-US" sz="2400" b="0" dirty="0">
              <a:solidFill>
                <a:srgbClr val="5583D1"/>
              </a:solidFill>
            </a:endParaRP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Handbook of Agriculture: Facts and Figures for Farmers, Students and All Interested in Farming, New Delhi, 2023.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[2] Tamil Nadu Agricultural University (TNAU):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Crop Protection Compendium &amp; Integrated Pest Management Guides, TNAU Agritech Portal, Coimbatore, 2024.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[3] Central Insecticides Board &amp; Registration Committee (CIB&amp;RC):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List of Registered &amp; Banned Pesticides in India, Ministry of Agriculture &amp; Farmers Welfare, 2024.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[4] Yao, S., et al.: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ReAct: Synergizing Reasoning and Acting in Language Models, International Conference on Learning Representations (ICLR), 2023.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[5] Lewis, P., et al.: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Retrieval-Augmented Generation for Knowledge-Intensive NLP Tasks, Advances in Neural Information Processing Systems (NeurIPS), 2020.</a:t>
            </a:r>
          </a:p>
          <a:p>
            <a:pPr>
              <a:spcAft>
                <a:spcPts val="2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[6] Meta Platforms Inc.: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WhatsApp Cloud API Developer Documentation &amp; Webhook Guidelines, 2024.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200" b="1">
                <a:solidFill>
                  <a:srgbClr val="5B9BD5"/>
                </a:solidFill>
                <a:latin typeface="Calibri"/>
              </a:defRPr>
            </a:pPr>
            <a: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Project Title - Kisan AI: WhatsApp Agronomic Advisory Assistant</a:t>
            </a: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205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14</cp:revision>
  <dcterms:created xsi:type="dcterms:W3CDTF">2024-05-13T10:33:11Z</dcterms:created>
  <dcterms:modified xsi:type="dcterms:W3CDTF">2025-10-06T09:41:15Z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